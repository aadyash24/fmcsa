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dashboard: an interactive view of commercial motor vehicle crashes in Tennessee, built for the FMCSA-funded research project. Live at aadyash24.github.io/FMCSA.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come straight from the crash extract. 2025 is a partial year (January to March), so recent trend lines drop at the right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descriptive counts and rates, not causal findings. Corridor rates are raw crashes per mile, not per vehicle mile traveled. Contributing-factor results are held back until full driver records are 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site is fully static: Python and R prepare the data offline, the browser does all filtering. That keeps hosting free and the dashboard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landing page. The coverage chart is important context: person records exist for only a small share of crashes, mostly 2023 to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3.1% of CMV crashes were fatal (1,427 crashes, 1,595 deaths). Serious injury crashes were 7.1%. FMCSA reportable criteria are fatality, injury transported for treatment, or vehicle towed.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bottom table separates volume from lethality: the fatal share shows which collision types are most dangerous, not just most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Rates are raw crashes per mile, not per vehicle mile traveled. A traffic-normalized version needs AADT or VMT data. The highway lines are a public placeholder until the TDOT Road Geometrics shapefile is 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 tests TDOT's assumption that most CMV versus non-CMV crashes are caused by the other driver. It is in progress until the full TITAN driver records are loaded, so treat current percentages as preliminary.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year range also sits in the header on every tab. Links like ?tab=corridor open a specific tab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coverage gap and placeholder highways are the two things to be upfront about with sponsors.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mshaon06@utk.edu" TargetMode="External"/><Relationship Id="rId4" Type="http://schemas.openxmlformats.org/officeDocument/2006/relationships/hyperlink" Target="mailto:akhattak@utk.edu" TargetMode="External"/><Relationship Id="rId6" Type="http://schemas.openxmlformats.org/officeDocument/2006/relationships/hyperlink" Target="mailto:aziz.husain.nexus@gmail.com" TargetMode="External"/><Relationship Id="rId8" Type="http://schemas.openxmlformats.org/officeDocument/2006/relationships/hyperlink" Target="mailto:csabillo@utk.edu" TargetMode="External"/><Relationship Id="rId10" Type="http://schemas.openxmlformats.org/officeDocument/2006/relationships/hyperlink" Target="mailto:asharm41@vols.utk.edu" TargetMode="External"/><Relationship Id="rId1" Type="http://schemas.openxmlformats.org/officeDocument/2006/relationships/image" Target="../media/image-12-1.jpg"/><Relationship Id="rId3" Type="http://schemas.openxmlformats.org/officeDocument/2006/relationships/image" Target="../media/image-12-2.jpg"/><Relationship Id="rId5" Type="http://schemas.openxmlformats.org/officeDocument/2006/relationships/image" Target="../media/image-12-3.jpg"/><Relationship Id="rId7" Type="http://schemas.openxmlformats.org/officeDocument/2006/relationships/image" Target="../media/image-12-4.jpg"/><Relationship Id="rId9" Type="http://schemas.openxmlformats.org/officeDocument/2006/relationships/image" Target="../media/image-12-5.jp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8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FMCSA RESEARCH PROJECT  |  TENNESSEE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Where, how and why commercial vehicles crash in Tennessee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TN CMV Crash Dashboard: what it does and what it shows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UNIVERSITY OF TENNESSEE, KNOXVILLE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Transportation Research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decade of Tennessee truck and bus crashes, in one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45,650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163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CMV crashes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01568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19659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1,595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01568" y="28163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killed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63056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3056" y="19659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31,463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63056" y="28163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injured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24544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24544" y="19659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 to 2025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924544" y="28163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Tennessee TITAN police crash reports that involve a commercial motor vehicle (CMV).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CMV is a vehicle over 10,000 lb gross weight rating, carrying more than eight people, or displaying a hazardous materials placard.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map and chart follows the same filters, so the whole dashboard tells one consistent story.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CMV Crash Dashboard   |   FMCSA research project   |   The University of Tennessee, Knoxville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6424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SO FAR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already tells 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 from 45,650 CMV crashes, 2015 to 2025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CMV crashes were fatal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63240" y="228600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1,427 fatal crashes caused 1,595 deaths; serious injury crashes were 7.1%.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20574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240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4652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head-on crashes were fatal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0" y="228600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Head-on crashes are rare but the deadliest collision type.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51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11,692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front-to-rear crashes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63240" y="429768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 collision type. Angle crashes cause the most injuries and deaths.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40690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251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8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I-24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446520" y="5074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crash rate per mile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429768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 crashes per mile, ahead of I-65 (14.9) and I-40 (13.7). Not yet adjusted for traffic.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CMV Crash Dashboard   |   FMCSA research project   |   The University of Tennessee, Knoxville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crash records to an interactive site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594360" cy="594360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TITAN crash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Collision, unit and person records for CMV crashes, 2015 to 2025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01568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5888" y="2194560"/>
            <a:ext cx="594360" cy="594360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75888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data prep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75888" y="34747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R scripts clean the data, decode TITAN codes and place crashes on routes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63056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2194560"/>
            <a:ext cx="594360" cy="594360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37376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data files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37376" y="34747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JSON files the browser loads directly, with no server needed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24544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98864" y="2194560"/>
            <a:ext cx="594360" cy="594360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8864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98864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98864" y="34747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and Leaflet site on GitHub Pages, filtering 45,650 crashes in the browser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filter panel (year, county, severity, collision type, weather, route class and more) drives the map and every chart on every tab.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CMV Crash Dashboard   |   FMCSA research project   |   The University of Tennessee, Knoxville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6424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and what does it cover?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and headline totals.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that open each analysis tab.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team and contacts.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coverage by year: which crashes have vehicle and person records.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2011680"/>
            <a:ext cx="66294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tab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2029968"/>
            <a:ext cx="6592824" cy="3694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CMV Crash Dashboard   |   FMCSA research project   |   The University of Tennessee, Knoxville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6424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crashes, how severe, and when?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for work zone, intersection and school bus crashes.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and serious injury crashes by year.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by hour, day of week and month.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by collision type, route class, FMCSA criteria, weather and county.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county to focus every chart on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2011680"/>
            <a:ext cx="66294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tab_expl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2029968"/>
            <a:ext cx="6592824" cy="3694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CMV Crash Dashboard   |   FMCSA research project   |   The University of Tennessee, Knoxville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6424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Manner of Collision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vehicles collide, and which types are deadliest?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or more collision types, such as rear-end, angle or head-on.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each type happens and how severe it is.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frequent: front to rear (11,692 crashes). Most injuries and deaths: angle crashes.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Head-on crashes are rare but deadliest, at 17.9% fatal.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2011680"/>
            <a:ext cx="66294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tab_m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2029968"/>
            <a:ext cx="6592824" cy="3694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CMV Crash Dashboard   |   FMCSA research project   |   The University of Tennessee, Knoxville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6424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Corridor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roads and stretches carry the most crashes?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interstate, US route or state route.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its crashes mile by mile, with metro areas marked.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routes by crashes per mile: I-24 (16.1), I-65 (14.9) and I-40 (13.7) lead.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Preliminary: counts are not yet adjusted for traffic volume.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2011680"/>
            <a:ext cx="66294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tab_corri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2029968"/>
            <a:ext cx="6592824" cy="3694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CMV Crash Dashboard   |   FMCSA research project   |   The University of Tennessee, Knoxville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6424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Contributing Factors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driver behaviors are coded, and for whom?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list contributing factors per driver rather than assigning fault.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behaviors are coded most, and whose: CMV driver, other driver, both or none.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ranking change between CMV and other drivers?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only 3,030 of 45,650 crashes have driver records so far.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2011680"/>
            <a:ext cx="66294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tab_fa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2029968"/>
            <a:ext cx="6592824" cy="3694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CMV Crash Dashboard   |   FMCSA research project   |   The University of Tennessee, Knoxville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6424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set of filters drives every tab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the whole dashboard once and it stays narrowed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and county.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FMCSA reportable criteria: fatal, vehicle towed, injured and transported.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severe injury and number of vehicles involved.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type, route class, road surface, weather and light condition.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zone, intersection, school bus and law enforcement agency.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2011680"/>
            <a:ext cx="66294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4C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tab_fil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2029968"/>
            <a:ext cx="6592824" cy="3694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CMV Crash Dashboard   |   FMCSA research project   |   The University of Tennessee, Knoxville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6424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ready, what is in progress, and what is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Exploratory Analysis and Manner of Collision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Analysis for interstates, US and state routes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filters and the live site on GitHub Pages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mode hides unfinished tabs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10312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Factors: needs full TITAN driver records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TDOT highway geometry in place of placeholder lines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Traffic-normalized crash rates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10312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D7D4CB"/>
          </a:solidFill>
          <a:ln w="12700">
            <a:solidFill>
              <a:srgbClr val="D7D4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7889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2: risk assessment on the roadways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3: predictive model of crash probability by road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CMV Crash Dashboard   |   FMCSA research project   |   The University of Tennessee, Knoxville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and research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075688"/>
            <a:ext cx="1426464" cy="1426464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pic>
        <p:nvPicPr>
          <p:cNvPr id="6" name="Image 0" descr="sha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30552"/>
            <a:ext cx="1316736" cy="1316736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65760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Mohammad Shaon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42976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Investigator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" y="457200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Transportation Research, UTK</a:t>
            </a:r>
            <a:endParaRPr lang="en-US" sz="1100" dirty="0"/>
          </a:p>
        </p:txBody>
      </p:sp>
      <p:sp>
        <p:nvSpPr>
          <p:cNvPr id="10" name="Text 7">
            <a:hlinkClick r:id="rId2" tooltip=""/>
          </p:cNvPr>
          <p:cNvSpPr/>
          <p:nvPr/>
        </p:nvSpPr>
        <p:spPr>
          <a:xfrm>
            <a:off x="685800" y="5230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mshaon06@utk.edu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62072" y="182880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2075688"/>
            <a:ext cx="1426464" cy="1426464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pic>
        <p:nvPicPr>
          <p:cNvPr id="13" name="Image 1" descr="khatta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2130552"/>
            <a:ext cx="1316736" cy="1316736"/>
          </a:xfrm>
          <a:prstGeom prst="ellipse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71800" y="365760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Asad Khattak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971800" y="42976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Co-Principal Investigator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971800" y="457200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and Environmental Engineering, UTK</a:t>
            </a:r>
            <a:endParaRPr lang="en-US" sz="1100" dirty="0"/>
          </a:p>
        </p:txBody>
      </p:sp>
      <p:sp>
        <p:nvSpPr>
          <p:cNvPr id="17" name="Text 13">
            <a:hlinkClick r:id="rId4" tooltip=""/>
          </p:cNvPr>
          <p:cNvSpPr/>
          <p:nvPr/>
        </p:nvSpPr>
        <p:spPr>
          <a:xfrm>
            <a:off x="2907792" y="5230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akhattak@utk.edu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84064" y="182880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22392" y="2075688"/>
            <a:ext cx="1426464" cy="1426464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pic>
        <p:nvPicPr>
          <p:cNvPr id="20" name="Image 2" descr="aziz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56" y="2130552"/>
            <a:ext cx="1316736" cy="1316736"/>
          </a:xfrm>
          <a:prstGeom prst="ellipse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93792" y="365760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Husain Aziz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193792" y="42976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Co-Principal Investigator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193792" y="457200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Engineering, Kansas State University</a:t>
            </a:r>
            <a:endParaRPr lang="en-US" sz="1100" dirty="0"/>
          </a:p>
        </p:txBody>
      </p:sp>
      <p:sp>
        <p:nvSpPr>
          <p:cNvPr id="24" name="Text 19">
            <a:hlinkClick r:id="rId6" tooltip=""/>
          </p:cNvPr>
          <p:cNvSpPr/>
          <p:nvPr/>
        </p:nvSpPr>
        <p:spPr>
          <a:xfrm>
            <a:off x="5129784" y="5230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aziz.husain.nexus@gmail.com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306056" y="182880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644384" y="2075688"/>
            <a:ext cx="1426464" cy="1426464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pic>
        <p:nvPicPr>
          <p:cNvPr id="27" name="Image 3" descr="sabillon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2130552"/>
            <a:ext cx="1316736" cy="1316736"/>
          </a:xfrm>
          <a:prstGeom prst="ellipse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15784" y="365760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Christian A. Sabillon-Orellana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7415784" y="42976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Co-Principal Investigator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415784" y="457200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Transportation Research, UTK</a:t>
            </a:r>
            <a:endParaRPr lang="en-US" sz="1100" dirty="0"/>
          </a:p>
        </p:txBody>
      </p:sp>
      <p:sp>
        <p:nvSpPr>
          <p:cNvPr id="31" name="Text 25">
            <a:hlinkClick r:id="rId8" tooltip=""/>
          </p:cNvPr>
          <p:cNvSpPr/>
          <p:nvPr/>
        </p:nvSpPr>
        <p:spPr>
          <a:xfrm>
            <a:off x="7351776" y="5230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csabillo@utk.edu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528048" y="182880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5F4F1"/>
          </a:solidFill>
          <a:ln w="9525">
            <a:solidFill>
              <a:srgbClr val="D7D4C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866376" y="2075688"/>
            <a:ext cx="1426464" cy="1426464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pic>
        <p:nvPicPr>
          <p:cNvPr id="34" name="Image 4" descr="aadya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240" y="2130552"/>
            <a:ext cx="1316736" cy="1316736"/>
          </a:xfrm>
          <a:prstGeom prst="ellipse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37776" y="365760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Aadya Sharma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9637776" y="429768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9637776" y="457200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agentic analysis, UTK</a:t>
            </a:r>
            <a:endParaRPr lang="en-US" sz="1100" dirty="0"/>
          </a:p>
        </p:txBody>
      </p:sp>
      <p:sp>
        <p:nvSpPr>
          <p:cNvPr id="38" name="Text 31">
            <a:hlinkClick r:id="rId10" tooltip=""/>
          </p:cNvPr>
          <p:cNvSpPr/>
          <p:nvPr/>
        </p:nvSpPr>
        <p:spPr>
          <a:xfrm>
            <a:off x="9573768" y="5230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asharm41@vols.utk.edu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64008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CMV Crash Dashboard   |   FMCSA research project   |   The University of Tennessee, Knoxville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06424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8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it live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aadyash24.github.io/FMCSA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welcome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TENNESSEE, KNOXVILLE   |   Center for Transportation Research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TN CMV Crash Dashboard</dc:title>
  <dc:subject>PptxGenJS Presentation</dc:subject>
  <dc:creator>Aadya Sharma</dc:creator>
  <cp:lastModifiedBy>Aadya Sharma</cp:lastModifiedBy>
  <cp:revision>1</cp:revision>
  <dcterms:created xsi:type="dcterms:W3CDTF">2026-10-28T22:31:29Z</dcterms:created>
  <dcterms:modified xsi:type="dcterms:W3CDTF">2026-10-28T22:31:29Z</dcterms:modified>
</cp:coreProperties>
</file>